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88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HIVE-K PITCH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1965960" y="329184"/>
            <a:ext cx="9738360" cy="0"/>
          </a:xfrm>
          <a:prstGeom prst="line">
            <a:avLst/>
          </a:prstGeom>
          <a:noFill/>
          <a:ln w="13970">
            <a:solidFill>
              <a:srgbClr val="D887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698480" y="15544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5050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Hive-K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" y="58521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5050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Solution &amp; MVP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429768" y="111556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Từ tìm KOL/KOC → quản lý chiến dịch → đo lường ROI trong một luồng vận hành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93776" y="6419088"/>
            <a:ext cx="1304163" cy="292608"/>
          </a:xfrm>
          <a:prstGeom prst="roundRect">
            <a:avLst>
              <a:gd name="adj" fmla="val 18750"/>
            </a:avLst>
          </a:prstGeom>
          <a:solidFill>
            <a:srgbClr val="D88700"/>
          </a:solidFill>
          <a:ln w="10160">
            <a:solidFill>
              <a:srgbClr val="D8870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Solution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907667" y="6419088"/>
            <a:ext cx="1304163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0160">
            <a:solidFill>
              <a:srgbClr val="D8870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88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BMC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321558" y="6419088"/>
            <a:ext cx="1304163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0160">
            <a:solidFill>
              <a:srgbClr val="D8870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88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735449" y="6419088"/>
            <a:ext cx="1304163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0160">
            <a:solidFill>
              <a:srgbClr val="D8870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88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GTM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149340" y="6419088"/>
            <a:ext cx="1304163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0160">
            <a:solidFill>
              <a:srgbClr val="D8870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88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7563231" y="6419088"/>
            <a:ext cx="1304163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0160">
            <a:solidFill>
              <a:srgbClr val="D8870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88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Finance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8977122" y="6419088"/>
            <a:ext cx="1304163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0160">
            <a:solidFill>
              <a:srgbClr val="D8870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88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Landscape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0391013" y="6419088"/>
            <a:ext cx="1304163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0160">
            <a:solidFill>
              <a:srgbClr val="D8870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88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94360" y="1572768"/>
            <a:ext cx="2212848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0160">
            <a:solidFill>
              <a:srgbClr val="E7D8C9"/>
            </a:solidFill>
          </a:ln>
        </p:spPr>
        <p:txBody>
          <a:bodyPr wrap="square" lIns="1397" tIns="1397" rIns="1397" bIns="1397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D88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Campaign Brief
</a:t>
            </a:r>
            <a:endParaRPr lang="en-US" sz="1000" dirty="0"/>
          </a:p>
          <a:p>
            <a:pPr indent="0" marL="0">
              <a:buNone/>
            </a:pPr>
            <a:r>
              <a:rPr lang="en-US" sz="840" dirty="0">
                <a:solidFill>
                  <a:srgbClr val="05050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Nhập sản phẩm, mục tiêu, ngân sách, nền tảng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807208" y="2066544"/>
            <a:ext cx="329184" cy="0"/>
          </a:xfrm>
          <a:prstGeom prst="line">
            <a:avLst/>
          </a:prstGeom>
          <a:noFill/>
          <a:ln w="13970">
            <a:solidFill>
              <a:srgbClr val="D88700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3246120" y="1572768"/>
            <a:ext cx="2212848" cy="987552"/>
          </a:xfrm>
          <a:prstGeom prst="roundRect">
            <a:avLst>
              <a:gd name="adj" fmla="val 7407"/>
            </a:avLst>
          </a:prstGeom>
          <a:solidFill>
            <a:srgbClr val="061A33"/>
          </a:solidFill>
          <a:ln w="10160">
            <a:solidFill>
              <a:srgbClr val="061A33"/>
            </a:solidFill>
          </a:ln>
        </p:spPr>
        <p:txBody>
          <a:bodyPr wrap="square" lIns="1397" tIns="1397" rIns="1397" bIns="1397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AI Matching
</a:t>
            </a:r>
            <a:endParaRPr lang="en-US" sz="1000" dirty="0"/>
          </a:p>
          <a:p>
            <a:pPr indent="0" marL="0">
              <a:buNone/>
            </a:pPr>
            <a:r>
              <a:rPr lang="en-US" sz="84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Gợi ý KOL/KOC theo độ phù hợp, rủi ro, ngân sách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58968" y="2066544"/>
            <a:ext cx="329184" cy="0"/>
          </a:xfrm>
          <a:prstGeom prst="line">
            <a:avLst/>
          </a:prstGeom>
          <a:noFill/>
          <a:ln w="13970">
            <a:solidFill>
              <a:srgbClr val="D88700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5897880" y="1572768"/>
            <a:ext cx="2212848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0160">
            <a:solidFill>
              <a:srgbClr val="E7D8C9"/>
            </a:solidFill>
          </a:ln>
        </p:spPr>
        <p:txBody>
          <a:bodyPr wrap="square" lIns="1397" tIns="1397" rIns="1397" bIns="1397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D88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Campaign Ops
</a:t>
            </a:r>
            <a:endParaRPr lang="en-US" sz="1000" dirty="0"/>
          </a:p>
          <a:p>
            <a:pPr indent="0" marL="0">
              <a:buNone/>
            </a:pPr>
            <a:r>
              <a:rPr lang="en-US" sz="840" dirty="0">
                <a:solidFill>
                  <a:srgbClr val="05050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Lên bài AI, lịch đăng, nhắc việc, theo dõi KPI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110728" y="2066544"/>
            <a:ext cx="329184" cy="0"/>
          </a:xfrm>
          <a:prstGeom prst="line">
            <a:avLst/>
          </a:prstGeom>
          <a:noFill/>
          <a:ln w="13970">
            <a:solidFill>
              <a:srgbClr val="D88700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8549640" y="1572768"/>
            <a:ext cx="2212848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0160">
            <a:solidFill>
              <a:srgbClr val="E7D8C9"/>
            </a:solidFill>
          </a:ln>
        </p:spPr>
        <p:txBody>
          <a:bodyPr wrap="square" lIns="1397" tIns="1397" rIns="1397" bIns="1397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D88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Trust Proof
</a:t>
            </a:r>
            <a:endParaRPr lang="en-US" sz="1000" dirty="0"/>
          </a:p>
          <a:p>
            <a:pPr indent="0" marL="0">
              <a:buNone/>
            </a:pPr>
            <a:r>
              <a:rPr lang="en-US" sz="840" dirty="0">
                <a:solidFill>
                  <a:srgbClr val="05050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Link affiliate, đánh giá người mua, chứng nhận hồ sơ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4360" y="2907792"/>
            <a:ext cx="3246120" cy="2651760"/>
          </a:xfrm>
          <a:prstGeom prst="roundRect">
            <a:avLst>
              <a:gd name="adj" fmla="val 2759"/>
            </a:avLst>
          </a:prstGeom>
          <a:solidFill>
            <a:srgbClr val="061A33"/>
          </a:solidFill>
          <a:ln w="10160">
            <a:solidFill>
              <a:srgbClr val="061A33"/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trụ cột sản phẩm
</a:t>
            </a:r>
            <a:endParaRPr lang="en-US" sz="130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Trust Scoring: xác thực hồ sơ, bảng xếp hạng, đánh giá từ khách hàng</a:t>
            </a:r>
            <a:endParaRPr lang="en-US" sz="130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Matching: ghép nối theo sản phẩm, tệp khách hàng, định vị thương hiệu</a:t>
            </a:r>
            <a:endParaRPr lang="en-US" sz="130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Campaign Management: AI content, lịch đăng, dashboard KPI/ROI</a:t>
            </a:r>
            <a:endParaRPr lang="en-US" sz="1300" dirty="0"/>
          </a:p>
        </p:txBody>
      </p:sp>
      <p:pic>
        <p:nvPicPr>
          <p:cNvPr id="23" name="Image 0" descr="/mnt/data/hive_media/ppt/media/image4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1802" y="2834640"/>
            <a:ext cx="3154996" cy="1572768"/>
          </a:xfrm>
          <a:prstGeom prst="rect">
            <a:avLst/>
          </a:prstGeom>
        </p:spPr>
      </p:pic>
      <p:pic>
        <p:nvPicPr>
          <p:cNvPr id="24" name="Image 1" descr="/mnt/data/hive_media/ppt/media/image5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2213" y="2834640"/>
            <a:ext cx="3521358" cy="1572768"/>
          </a:xfrm>
          <a:prstGeom prst="rect">
            <a:avLst/>
          </a:prstGeom>
        </p:spPr>
      </p:pic>
      <p:pic>
        <p:nvPicPr>
          <p:cNvPr id="25" name="Image 2" descr="/mnt/data/hive_media/ppt/media/image5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9322" y="4590288"/>
            <a:ext cx="2379955" cy="1261872"/>
          </a:xfrm>
          <a:prstGeom prst="rect">
            <a:avLst/>
          </a:prstGeom>
        </p:spPr>
      </p:pic>
      <p:pic>
        <p:nvPicPr>
          <p:cNvPr id="26" name="Image 3" descr="/mnt/data/hive_media/ppt/media/image5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9537" y="4590288"/>
            <a:ext cx="3586711" cy="126187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4160520" y="5925312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Luồng demo trong sản phẩm: nhập campaign → phân tích yêu cầu → shortlist KOL/KOC → so sánh &amp; mời tham gia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88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HIVE-K PITCH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1965960" y="329184"/>
            <a:ext cx="9738360" cy="0"/>
          </a:xfrm>
          <a:prstGeom prst="line">
            <a:avLst/>
          </a:prstGeom>
          <a:noFill/>
          <a:ln w="13970">
            <a:solidFill>
              <a:srgbClr val="D887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698480" y="15544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5050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Hive-K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" y="58521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5050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Model Canvas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429768" y="111556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Rút gọn thành các khối quyết định để pitch rõ logic tạo giá trị và thu tiền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93776" y="6419088"/>
            <a:ext cx="1304163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0160">
            <a:solidFill>
              <a:srgbClr val="D8870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88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Solution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907667" y="6419088"/>
            <a:ext cx="1304163" cy="292608"/>
          </a:xfrm>
          <a:prstGeom prst="roundRect">
            <a:avLst>
              <a:gd name="adj" fmla="val 18750"/>
            </a:avLst>
          </a:prstGeom>
          <a:solidFill>
            <a:srgbClr val="D88700"/>
          </a:solidFill>
          <a:ln w="10160">
            <a:solidFill>
              <a:srgbClr val="D8870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BMC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321558" y="6419088"/>
            <a:ext cx="1304163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0160">
            <a:solidFill>
              <a:srgbClr val="D8870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88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735449" y="6419088"/>
            <a:ext cx="1304163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0160">
            <a:solidFill>
              <a:srgbClr val="D8870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88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GTM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149340" y="6419088"/>
            <a:ext cx="1304163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0160">
            <a:solidFill>
              <a:srgbClr val="D8870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88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7563231" y="6419088"/>
            <a:ext cx="1304163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0160">
            <a:solidFill>
              <a:srgbClr val="D8870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88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Finance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8977122" y="6419088"/>
            <a:ext cx="1304163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0160">
            <a:solidFill>
              <a:srgbClr val="D8870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88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Landscape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0391013" y="6419088"/>
            <a:ext cx="1304163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0160">
            <a:solidFill>
              <a:srgbClr val="D8870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88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38912" y="1417320"/>
            <a:ext cx="2066544" cy="1719072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0160">
            <a:solidFill>
              <a:srgbClr val="E7D8C9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D88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PARTNERS
</a:t>
            </a:r>
            <a:endParaRPr lang="en-US" sz="840" dirty="0"/>
          </a:p>
          <a:p>
            <a:pPr indent="0" marL="0">
              <a:buNone/>
            </a:pPr>
            <a:r>
              <a:rPr lang="en-US" sz="780" dirty="0">
                <a:solidFill>
                  <a:srgbClr val="05050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eKYC &amp; pháp lý</a:t>
            </a:r>
            <a:endParaRPr lang="en-US" sz="840" dirty="0"/>
          </a:p>
          <a:p>
            <a:pPr indent="0" marL="0">
              <a:buNone/>
            </a:pPr>
            <a:r>
              <a:rPr lang="en-US" sz="780" dirty="0">
                <a:solidFill>
                  <a:srgbClr val="05050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/ Cloud providers</a:t>
            </a:r>
            <a:endParaRPr lang="en-US" sz="840" dirty="0"/>
          </a:p>
          <a:p>
            <a:pPr indent="0" marL="0">
              <a:buNone/>
            </a:pPr>
            <a:r>
              <a:rPr lang="en-US" sz="780" dirty="0">
                <a:solidFill>
                  <a:srgbClr val="05050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Social platforms</a:t>
            </a:r>
            <a:endParaRPr lang="en-US" sz="840" dirty="0"/>
          </a:p>
          <a:p>
            <a:pPr indent="0" marL="0">
              <a:buNone/>
            </a:pPr>
            <a:r>
              <a:rPr lang="en-US" sz="780" dirty="0">
                <a:solidFill>
                  <a:srgbClr val="05050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KOL/KOC network</a:t>
            </a:r>
            <a:endParaRPr lang="en-US" sz="840" dirty="0"/>
          </a:p>
        </p:txBody>
      </p:sp>
      <p:sp>
        <p:nvSpPr>
          <p:cNvPr id="16" name="Text 14"/>
          <p:cNvSpPr/>
          <p:nvPr/>
        </p:nvSpPr>
        <p:spPr>
          <a:xfrm>
            <a:off x="2724912" y="1417320"/>
            <a:ext cx="2066544" cy="1719072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0160">
            <a:solidFill>
              <a:srgbClr val="E7D8C9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D88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ACTIVITIES
</a:t>
            </a:r>
            <a:endParaRPr lang="en-US" sz="840" dirty="0"/>
          </a:p>
          <a:p>
            <a:pPr indent="0" marL="0">
              <a:buNone/>
            </a:pPr>
            <a:r>
              <a:rPr lang="en-US" sz="780" dirty="0">
                <a:solidFill>
                  <a:srgbClr val="05050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Phát triển SaaS</a:t>
            </a:r>
            <a:endParaRPr lang="en-US" sz="840" dirty="0"/>
          </a:p>
          <a:p>
            <a:pPr indent="0" marL="0">
              <a:buNone/>
            </a:pPr>
            <a:r>
              <a:rPr lang="en-US" sz="780" dirty="0">
                <a:solidFill>
                  <a:srgbClr val="05050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Ghép nối KOL/KOC</a:t>
            </a:r>
            <a:endParaRPr lang="en-US" sz="840" dirty="0"/>
          </a:p>
          <a:p>
            <a:pPr indent="0" marL="0">
              <a:buNone/>
            </a:pPr>
            <a:r>
              <a:rPr lang="en-US" sz="780" dirty="0">
                <a:solidFill>
                  <a:srgbClr val="05050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Tự động hóa chiến dịch</a:t>
            </a:r>
            <a:endParaRPr lang="en-US" sz="840" dirty="0"/>
          </a:p>
          <a:p>
            <a:pPr indent="0" marL="0">
              <a:buNone/>
            </a:pPr>
            <a:r>
              <a:rPr lang="en-US" sz="780" dirty="0">
                <a:solidFill>
                  <a:srgbClr val="05050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Hỗ trợ vận hành</a:t>
            </a:r>
            <a:endParaRPr lang="en-US" sz="840" dirty="0"/>
          </a:p>
        </p:txBody>
      </p:sp>
      <p:sp>
        <p:nvSpPr>
          <p:cNvPr id="17" name="Text 15"/>
          <p:cNvSpPr/>
          <p:nvPr/>
        </p:nvSpPr>
        <p:spPr>
          <a:xfrm>
            <a:off x="5010912" y="1417320"/>
            <a:ext cx="2066544" cy="3685032"/>
          </a:xfrm>
          <a:prstGeom prst="roundRect">
            <a:avLst>
              <a:gd name="adj" fmla="val 3540"/>
            </a:avLst>
          </a:prstGeom>
          <a:solidFill>
            <a:srgbClr val="061A33"/>
          </a:solidFill>
          <a:ln w="10160">
            <a:solidFill>
              <a:srgbClr val="061A33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 PROPOSITION
</a:t>
            </a:r>
            <a:endParaRPr lang="en-US" sz="94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Phòng marketing thu nhỏ cho SME</a:t>
            </a:r>
            <a:endParaRPr lang="en-US" sz="940" dirty="0"/>
          </a:p>
          <a:p>
            <a:pPr indent="0" marL="0">
              <a:buNone/>
            </a:pPr>
            <a:endParaRPr lang="en-US" sz="94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Tự động hóa tìm KOL/KOC → lên bài → đăng bài → đo lường ROI</a:t>
            </a:r>
            <a:endParaRPr lang="en-US" sz="940" dirty="0"/>
          </a:p>
          <a:p>
            <a:pPr indent="0" marL="0">
              <a:buNone/>
            </a:pPr>
            <a:endParaRPr lang="en-US" sz="94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Bảo chứng tín nhiệm bằng xác thực, đánh giá và minh bạch dữ liệu</a:t>
            </a:r>
            <a:endParaRPr lang="en-US" sz="940" dirty="0"/>
          </a:p>
        </p:txBody>
      </p:sp>
      <p:sp>
        <p:nvSpPr>
          <p:cNvPr id="18" name="Text 16"/>
          <p:cNvSpPr/>
          <p:nvPr/>
        </p:nvSpPr>
        <p:spPr>
          <a:xfrm>
            <a:off x="7296912" y="1417320"/>
            <a:ext cx="2066544" cy="1719072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0160">
            <a:solidFill>
              <a:srgbClr val="E7D8C9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D88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RELATIONSHIPS
</a:t>
            </a:r>
            <a:endParaRPr lang="en-US" sz="840" dirty="0"/>
          </a:p>
          <a:p>
            <a:pPr indent="0" marL="0">
              <a:buNone/>
            </a:pPr>
            <a:r>
              <a:rPr lang="en-US" sz="780" dirty="0">
                <a:solidFill>
                  <a:srgbClr val="05050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Self-service SaaS</a:t>
            </a:r>
            <a:endParaRPr lang="en-US" sz="840" dirty="0"/>
          </a:p>
          <a:p>
            <a:pPr indent="0" marL="0">
              <a:buNone/>
            </a:pPr>
            <a:r>
              <a:rPr lang="en-US" sz="780" dirty="0">
                <a:solidFill>
                  <a:srgbClr val="05050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support</a:t>
            </a:r>
            <a:endParaRPr lang="en-US" sz="840" dirty="0"/>
          </a:p>
          <a:p>
            <a:pPr indent="0" marL="0">
              <a:buNone/>
            </a:pPr>
            <a:r>
              <a:rPr lang="en-US" sz="780" dirty="0">
                <a:solidFill>
                  <a:srgbClr val="05050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Onboarding campaign</a:t>
            </a:r>
            <a:endParaRPr lang="en-US" sz="840" dirty="0"/>
          </a:p>
          <a:p>
            <a:pPr indent="0" marL="0">
              <a:buNone/>
            </a:pPr>
            <a:r>
              <a:rPr lang="en-US" sz="780" dirty="0">
                <a:solidFill>
                  <a:srgbClr val="05050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Managed service</a:t>
            </a:r>
            <a:endParaRPr lang="en-US" sz="840" dirty="0"/>
          </a:p>
        </p:txBody>
      </p:sp>
      <p:sp>
        <p:nvSpPr>
          <p:cNvPr id="19" name="Text 17"/>
          <p:cNvSpPr/>
          <p:nvPr/>
        </p:nvSpPr>
        <p:spPr>
          <a:xfrm>
            <a:off x="9582912" y="1417320"/>
            <a:ext cx="2066544" cy="3685032"/>
          </a:xfrm>
          <a:prstGeom prst="roundRect">
            <a:avLst>
              <a:gd name="adj" fmla="val 3540"/>
            </a:avLst>
          </a:prstGeom>
          <a:solidFill>
            <a:srgbClr val="FFFFFF"/>
          </a:solidFill>
          <a:ln w="10160">
            <a:solidFill>
              <a:srgbClr val="E7D8C9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910" b="1" dirty="0">
                <a:solidFill>
                  <a:srgbClr val="D88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SEGMENTS
</a:t>
            </a:r>
            <a:endParaRPr lang="en-US" sz="910" dirty="0"/>
          </a:p>
          <a:p>
            <a:pPr indent="0" marL="0">
              <a:buNone/>
            </a:pPr>
            <a:r>
              <a:rPr lang="en-US" sz="860" dirty="0">
                <a:solidFill>
                  <a:srgbClr val="05050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SME / Local Brand</a:t>
            </a:r>
            <a:endParaRPr lang="en-US" sz="910" dirty="0"/>
          </a:p>
          <a:p>
            <a:pPr indent="0" marL="0">
              <a:buNone/>
            </a:pPr>
            <a:r>
              <a:rPr lang="en-US" sz="860" dirty="0">
                <a:solidFill>
                  <a:srgbClr val="05050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Startup</a:t>
            </a:r>
            <a:endParaRPr lang="en-US" sz="910" dirty="0"/>
          </a:p>
          <a:p>
            <a:pPr indent="0" marL="0">
              <a:buNone/>
            </a:pPr>
            <a:r>
              <a:rPr lang="en-US" sz="860" dirty="0">
                <a:solidFill>
                  <a:srgbClr val="05050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Agency nội địa</a:t>
            </a:r>
            <a:endParaRPr lang="en-US" sz="910" dirty="0"/>
          </a:p>
          <a:p>
            <a:pPr indent="0" marL="0">
              <a:buNone/>
            </a:pPr>
            <a:r>
              <a:rPr lang="en-US" sz="860" dirty="0">
                <a:solidFill>
                  <a:srgbClr val="05050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Freelancer bán hàng online</a:t>
            </a:r>
            <a:endParaRPr lang="en-US" sz="910" dirty="0"/>
          </a:p>
          <a:p>
            <a:pPr indent="0" marL="0">
              <a:buNone/>
            </a:pPr>
            <a:endParaRPr lang="en-US" sz="910" dirty="0"/>
          </a:p>
          <a:p>
            <a:pPr indent="0" marL="0">
              <a:buNone/>
            </a:pPr>
            <a:r>
              <a:rPr lang="en-US" sz="860" dirty="0">
                <a:solidFill>
                  <a:srgbClr val="05050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Đội marketing 0–3 người; bán đa kênh; cần scale chiến dịch KOC</a:t>
            </a:r>
            <a:endParaRPr lang="en-US" sz="910" dirty="0"/>
          </a:p>
        </p:txBody>
      </p:sp>
      <p:sp>
        <p:nvSpPr>
          <p:cNvPr id="20" name="Text 18"/>
          <p:cNvSpPr/>
          <p:nvPr/>
        </p:nvSpPr>
        <p:spPr>
          <a:xfrm>
            <a:off x="2724912" y="3383280"/>
            <a:ext cx="2066544" cy="153619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0160">
            <a:solidFill>
              <a:srgbClr val="E7D8C9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D88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RESOURCES
</a:t>
            </a:r>
            <a:endParaRPr lang="en-US" sz="840" dirty="0"/>
          </a:p>
          <a:p>
            <a:pPr indent="0" marL="0">
              <a:buNone/>
            </a:pPr>
            <a:r>
              <a:rPr lang="en-US" sz="780" dirty="0">
                <a:solidFill>
                  <a:srgbClr val="05050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Engine</a:t>
            </a:r>
            <a:endParaRPr lang="en-US" sz="840" dirty="0"/>
          </a:p>
          <a:p>
            <a:pPr indent="0" marL="0">
              <a:buNone/>
            </a:pPr>
            <a:r>
              <a:rPr lang="en-US" sz="780" dirty="0">
                <a:solidFill>
                  <a:srgbClr val="05050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KOL/KOC</a:t>
            </a:r>
            <a:endParaRPr lang="en-US" sz="840" dirty="0"/>
          </a:p>
          <a:p>
            <a:pPr indent="0" marL="0">
              <a:buNone/>
            </a:pPr>
            <a:r>
              <a:rPr lang="en-US" sz="780" dirty="0">
                <a:solidFill>
                  <a:srgbClr val="05050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Dữ liệu chiến dịch</a:t>
            </a:r>
            <a:endParaRPr lang="en-US" sz="840" dirty="0"/>
          </a:p>
          <a:p>
            <a:pPr indent="0" marL="0">
              <a:buNone/>
            </a:pPr>
            <a:r>
              <a:rPr lang="en-US" sz="780" dirty="0">
                <a:solidFill>
                  <a:srgbClr val="05050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Đội kỹ thuật &amp; sales</a:t>
            </a:r>
            <a:endParaRPr lang="en-US" sz="840" dirty="0"/>
          </a:p>
        </p:txBody>
      </p:sp>
      <p:sp>
        <p:nvSpPr>
          <p:cNvPr id="21" name="Text 19"/>
          <p:cNvSpPr/>
          <p:nvPr/>
        </p:nvSpPr>
        <p:spPr>
          <a:xfrm>
            <a:off x="7296912" y="3383280"/>
            <a:ext cx="2066544" cy="153619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0160">
            <a:solidFill>
              <a:srgbClr val="E7D8C9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D88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CHANNELS
</a:t>
            </a:r>
            <a:endParaRPr lang="en-US" sz="840" dirty="0"/>
          </a:p>
          <a:p>
            <a:pPr indent="0" marL="0">
              <a:buNone/>
            </a:pPr>
            <a:r>
              <a:rPr lang="en-US" sz="780" dirty="0">
                <a:solidFill>
                  <a:srgbClr val="05050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 sales</a:t>
            </a:r>
            <a:endParaRPr lang="en-US" sz="840" dirty="0"/>
          </a:p>
          <a:p>
            <a:pPr indent="0" marL="0">
              <a:buNone/>
            </a:pPr>
            <a:r>
              <a:rPr lang="en-US" sz="780" dirty="0">
                <a:solidFill>
                  <a:srgbClr val="05050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Facebook / TikTok Ads</a:t>
            </a:r>
            <a:endParaRPr lang="en-US" sz="840" dirty="0"/>
          </a:p>
          <a:p>
            <a:pPr indent="0" marL="0">
              <a:buNone/>
            </a:pPr>
            <a:r>
              <a:rPr lang="en-US" sz="780" dirty="0">
                <a:solidFill>
                  <a:srgbClr val="05050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Cộng đồng SME</a:t>
            </a:r>
            <a:endParaRPr lang="en-US" sz="840" dirty="0"/>
          </a:p>
          <a:p>
            <a:pPr indent="0" marL="0">
              <a:buNone/>
            </a:pPr>
            <a:r>
              <a:rPr lang="en-US" sz="780" dirty="0">
                <a:solidFill>
                  <a:srgbClr val="05050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Referral / Affiliate</a:t>
            </a:r>
            <a:endParaRPr lang="en-US" sz="840" dirty="0"/>
          </a:p>
        </p:txBody>
      </p:sp>
      <p:sp>
        <p:nvSpPr>
          <p:cNvPr id="22" name="Text 20"/>
          <p:cNvSpPr/>
          <p:nvPr/>
        </p:nvSpPr>
        <p:spPr>
          <a:xfrm>
            <a:off x="438912" y="5102352"/>
            <a:ext cx="5230368" cy="969264"/>
          </a:xfrm>
          <a:prstGeom prst="roundRect">
            <a:avLst>
              <a:gd name="adj" fmla="val 7547"/>
            </a:avLst>
          </a:prstGeom>
          <a:solidFill>
            <a:srgbClr val="FFF3E1"/>
          </a:solidFill>
          <a:ln w="10160">
            <a:solidFill>
              <a:srgbClr val="E5AE4C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D88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 STRUCTURE
</a:t>
            </a:r>
            <a:endParaRPr lang="en-US" sz="860" dirty="0"/>
          </a:p>
          <a:p>
            <a:pPr indent="0" marL="0">
              <a:buNone/>
            </a:pPr>
            <a:r>
              <a:rPr lang="en-US" sz="820" dirty="0">
                <a:solidFill>
                  <a:srgbClr val="05050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 &amp; Infrastructure · AI/API Cost · Vận hành hệ thống · Sales/Marketing · Customer Success</a:t>
            </a:r>
            <a:endParaRPr lang="en-US" sz="860" dirty="0"/>
          </a:p>
        </p:txBody>
      </p:sp>
      <p:sp>
        <p:nvSpPr>
          <p:cNvPr id="23" name="Text 21"/>
          <p:cNvSpPr/>
          <p:nvPr/>
        </p:nvSpPr>
        <p:spPr>
          <a:xfrm>
            <a:off x="5870448" y="5102352"/>
            <a:ext cx="5230368" cy="969264"/>
          </a:xfrm>
          <a:prstGeom prst="roundRect">
            <a:avLst>
              <a:gd name="adj" fmla="val 7547"/>
            </a:avLst>
          </a:prstGeom>
          <a:solidFill>
            <a:srgbClr val="FFF3E1"/>
          </a:solidFill>
          <a:ln w="10160">
            <a:solidFill>
              <a:srgbClr val="E5AE4C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D88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STREAMS
</a:t>
            </a:r>
            <a:endParaRPr lang="en-US" sz="860" dirty="0"/>
          </a:p>
          <a:p>
            <a:pPr indent="0" marL="0">
              <a:buNone/>
            </a:pPr>
            <a:r>
              <a:rPr lang="en-US" sz="820" dirty="0">
                <a:solidFill>
                  <a:srgbClr val="05050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SaaS Subscription · AI Premium Usage · Enterprise Service · 10% Commission từ giao dịch KOL/KOC · B2B Ads/Lead Gen</a:t>
            </a:r>
            <a:endParaRPr lang="en-US" sz="8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88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HIVE-K PITCH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1965960" y="329184"/>
            <a:ext cx="9738360" cy="0"/>
          </a:xfrm>
          <a:prstGeom prst="line">
            <a:avLst/>
          </a:prstGeom>
          <a:noFill/>
          <a:ln w="13970">
            <a:solidFill>
              <a:srgbClr val="D887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698480" y="15544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5050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Hive-K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" y="58521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5050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Revenue Model &amp; ICP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429768" y="111556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Tập trung ngách phân mảnh, tạo doanh thu theo tầng: SaaS → dịch vụ → hệ sinh thái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93776" y="6419088"/>
            <a:ext cx="1304163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0160">
            <a:solidFill>
              <a:srgbClr val="D8870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88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Solution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907667" y="6419088"/>
            <a:ext cx="1304163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0160">
            <a:solidFill>
              <a:srgbClr val="D8870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88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BMC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321558" y="6419088"/>
            <a:ext cx="1304163" cy="292608"/>
          </a:xfrm>
          <a:prstGeom prst="roundRect">
            <a:avLst>
              <a:gd name="adj" fmla="val 18750"/>
            </a:avLst>
          </a:prstGeom>
          <a:solidFill>
            <a:srgbClr val="D88700"/>
          </a:solidFill>
          <a:ln w="10160">
            <a:solidFill>
              <a:srgbClr val="D8870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735449" y="6419088"/>
            <a:ext cx="1304163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0160">
            <a:solidFill>
              <a:srgbClr val="D8870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88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GTM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149340" y="6419088"/>
            <a:ext cx="1304163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0160">
            <a:solidFill>
              <a:srgbClr val="D8870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88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7563231" y="6419088"/>
            <a:ext cx="1304163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0160">
            <a:solidFill>
              <a:srgbClr val="D8870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88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Finance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8977122" y="6419088"/>
            <a:ext cx="1304163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0160">
            <a:solidFill>
              <a:srgbClr val="D8870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88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Landscape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0391013" y="6419088"/>
            <a:ext cx="1304163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0160">
            <a:solidFill>
              <a:srgbClr val="D8870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88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02920" y="1417320"/>
            <a:ext cx="2121408" cy="960120"/>
          </a:xfrm>
          <a:prstGeom prst="roundRect">
            <a:avLst>
              <a:gd name="adj" fmla="val 7619"/>
            </a:avLst>
          </a:prstGeom>
          <a:solidFill>
            <a:srgbClr val="FFF3E1"/>
          </a:solidFill>
          <a:ln w="12700">
            <a:solidFill>
              <a:srgbClr val="E5AE4C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6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~2.678 tỷ
</a:t>
            </a:r>
            <a:endParaRPr lang="en-US" sz="20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5050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TAM / thị trường tiềm năng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724912" y="1417320"/>
            <a:ext cx="2121408" cy="960120"/>
          </a:xfrm>
          <a:prstGeom prst="roundRect">
            <a:avLst>
              <a:gd name="adj" fmla="val 7619"/>
            </a:avLst>
          </a:prstGeom>
          <a:solidFill>
            <a:srgbClr val="FFF3E1"/>
          </a:solidFill>
          <a:ln w="12700">
            <a:solidFill>
              <a:srgbClr val="E5AE4C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88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~535 tỷ
</a:t>
            </a:r>
            <a:endParaRPr lang="en-US" sz="20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5050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 / đúng tệp ICP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946904" y="1417320"/>
            <a:ext cx="2121408" cy="960120"/>
          </a:xfrm>
          <a:prstGeom prst="roundRect">
            <a:avLst>
              <a:gd name="adj" fmla="val 7619"/>
            </a:avLst>
          </a:prstGeom>
          <a:solidFill>
            <a:srgbClr val="061A33"/>
          </a:solidFill>
          <a:ln w="12700">
            <a:solidFill>
              <a:srgbClr val="061A33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~8 tỷ/năm
</a:t>
            </a:r>
            <a:endParaRPr lang="en-US" sz="20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SOM · 335 hợp đồng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02920" y="2615184"/>
            <a:ext cx="333756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0160">
            <a:solidFill>
              <a:srgbClr val="E5AE4C"/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D88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ICP: khách hàng đầu tiên
</a:t>
            </a:r>
            <a:endParaRPr lang="en-US" sz="1250" dirty="0"/>
          </a:p>
          <a:p>
            <a:pPr indent="0" marL="0">
              <a:buNone/>
            </a:pPr>
            <a:r>
              <a:rPr lang="en-US" sz="930" dirty="0">
                <a:solidFill>
                  <a:srgbClr val="05050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SME / Local Brand / Startup / Agency nội địa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930" dirty="0">
                <a:solidFill>
                  <a:srgbClr val="05050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5–50 nhân sự</a:t>
            </a:r>
            <a:endParaRPr lang="en-US" sz="1250" dirty="0"/>
          </a:p>
          <a:p>
            <a:pPr indent="0" marL="0">
              <a:buNone/>
            </a:pPr>
            <a:r>
              <a:rPr lang="en-US" sz="930" dirty="0">
                <a:solidFill>
                  <a:srgbClr val="05050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Đã bán hàng qua Facebook, Instagram, Threads</a:t>
            </a:r>
            <a:endParaRPr lang="en-US" sz="1250" dirty="0"/>
          </a:p>
          <a:p>
            <a:pPr indent="0" marL="0">
              <a:buNone/>
            </a:pPr>
            <a:r>
              <a:rPr lang="en-US" sz="930" dirty="0">
                <a:solidFill>
                  <a:srgbClr val="05050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Marketing chưa hiệu quả, thiếu nhân sự</a:t>
            </a:r>
            <a:endParaRPr lang="en-US" sz="1250" dirty="0"/>
          </a:p>
          <a:p>
            <a:pPr indent="0" marL="0">
              <a:buNone/>
            </a:pPr>
            <a:r>
              <a:rPr lang="en-US" sz="930" dirty="0">
                <a:solidFill>
                  <a:srgbClr val="05050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Cần hợp tác Micro/Nano KOC minh bạch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160520" y="2578608"/>
            <a:ext cx="1874520" cy="2157984"/>
          </a:xfrm>
          <a:prstGeom prst="roundRect">
            <a:avLst>
              <a:gd name="adj" fmla="val 3902"/>
            </a:avLst>
          </a:prstGeom>
          <a:solidFill>
            <a:srgbClr val="050505"/>
          </a:solidFill>
          <a:ln w="10160">
            <a:solidFill>
              <a:srgbClr val="F59E0B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
</a:t>
            </a:r>
            <a:endParaRPr lang="en-US" sz="1300" dirty="0"/>
          </a:p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599K / tháng</a:t>
            </a:r>
            <a:endParaRPr lang="en-US" sz="1300" dirty="0"/>
          </a:p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SME / Local Brand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Quản lý chiến dịch</a:t>
            </a:r>
            <a:endParaRPr lang="en-US" sz="1300" dirty="0"/>
          </a:p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Đăng bài tự động</a:t>
            </a:r>
            <a:endParaRPr lang="en-US" sz="1300" dirty="0"/>
          </a:p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 phân tích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99632" y="2578608"/>
            <a:ext cx="1874520" cy="2157984"/>
          </a:xfrm>
          <a:prstGeom prst="roundRect">
            <a:avLst>
              <a:gd name="adj" fmla="val 3902"/>
            </a:avLst>
          </a:prstGeom>
          <a:solidFill>
            <a:srgbClr val="061A33"/>
          </a:solidFill>
          <a:ln w="10160">
            <a:solidFill>
              <a:srgbClr val="F59E0B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Premium
</a:t>
            </a:r>
            <a:endParaRPr lang="en-US" sz="1300" dirty="0"/>
          </a:p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1.499M / tháng</a:t>
            </a:r>
            <a:endParaRPr lang="en-US" sz="1300" dirty="0"/>
          </a:p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Agency / Brand lớn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planning chuyên sâu</a:t>
            </a:r>
            <a:endParaRPr lang="en-US" sz="1300" dirty="0"/>
          </a:p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độc quyền</a:t>
            </a:r>
            <a:endParaRPr lang="en-US" sz="1300" dirty="0"/>
          </a:p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Ưu tiên hỗ trợ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38744" y="2578608"/>
            <a:ext cx="1874520" cy="2157984"/>
          </a:xfrm>
          <a:prstGeom prst="roundRect">
            <a:avLst>
              <a:gd name="adj" fmla="val 3902"/>
            </a:avLst>
          </a:prstGeom>
          <a:solidFill>
            <a:srgbClr val="050505"/>
          </a:solidFill>
          <a:ln w="10160">
            <a:solidFill>
              <a:srgbClr val="F59E0B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
</a:t>
            </a:r>
            <a:endParaRPr lang="en-US" sz="1300" dirty="0"/>
          </a:p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Theo yêu cầu</a:t>
            </a:r>
            <a:endParaRPr lang="en-US" sz="1300" dirty="0"/>
          </a:p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Brand / agency lớn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Vận hành trọn gói</a:t>
            </a:r>
            <a:endParaRPr lang="en-US" sz="1300" dirty="0"/>
          </a:p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Thiết kế · Vận hành</a:t>
            </a:r>
            <a:endParaRPr lang="en-US" sz="1300" dirty="0"/>
          </a:p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Báo cáo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160520" y="4956048"/>
            <a:ext cx="2971800" cy="658368"/>
          </a:xfrm>
          <a:prstGeom prst="roundRect">
            <a:avLst>
              <a:gd name="adj" fmla="val 11111"/>
            </a:avLst>
          </a:prstGeom>
          <a:solidFill>
            <a:srgbClr val="FFF3E1"/>
          </a:solidFill>
          <a:ln w="10160">
            <a:solidFill>
              <a:srgbClr val="E5AE4C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D88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Giai đoạn 2: Commission
</a:t>
            </a:r>
            <a:endParaRPr lang="en-US" sz="920" dirty="0"/>
          </a:p>
          <a:p>
            <a:pPr indent="0" marL="0">
              <a:buNone/>
            </a:pPr>
            <a:r>
              <a:rPr lang="en-US" sz="820" dirty="0">
                <a:solidFill>
                  <a:srgbClr val="05050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10% trên booking KOL/KOC thành công qua nền tảng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7315200" y="4956048"/>
            <a:ext cx="2798064" cy="658368"/>
          </a:xfrm>
          <a:prstGeom prst="roundRect">
            <a:avLst>
              <a:gd name="adj" fmla="val 11111"/>
            </a:avLst>
          </a:prstGeom>
          <a:solidFill>
            <a:srgbClr val="FFF3E1"/>
          </a:solidFill>
          <a:ln w="10160">
            <a:solidFill>
              <a:srgbClr val="E5AE4C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D88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Giai đoạn 3: Ads &amp; Lead Gen
</a:t>
            </a:r>
            <a:endParaRPr lang="en-US" sz="920" dirty="0"/>
          </a:p>
          <a:p>
            <a:pPr indent="0" marL="0">
              <a:buNone/>
            </a:pPr>
            <a:r>
              <a:rPr lang="en-US" sz="820" dirty="0">
                <a:solidFill>
                  <a:srgbClr val="05050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Thu phí quảng cáo, data lead B2B và đối tác thứ ba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530352" y="569671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i="1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Chiến lược năm 1: giảm rào cản bằng gói Standard + miễn/giảm commission để xây network effect.</a:t>
            </a:r>
            <a:endParaRPr lang="en-US" sz="87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88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HIVE-K PITCH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1965960" y="329184"/>
            <a:ext cx="9738360" cy="0"/>
          </a:xfrm>
          <a:prstGeom prst="line">
            <a:avLst/>
          </a:prstGeom>
          <a:noFill/>
          <a:ln w="13970">
            <a:solidFill>
              <a:srgbClr val="D887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698480" y="15544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5050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Hive-K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" y="58521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5050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Go-To-Market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429768" y="111556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Chuyển đổi SME, Local Brand và mạng lưới KOC/KOL thành người dùng thường xuyên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93776" y="6419088"/>
            <a:ext cx="1304163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0160">
            <a:solidFill>
              <a:srgbClr val="D8870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88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Solution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907667" y="6419088"/>
            <a:ext cx="1304163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0160">
            <a:solidFill>
              <a:srgbClr val="D8870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88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BMC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321558" y="6419088"/>
            <a:ext cx="1304163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0160">
            <a:solidFill>
              <a:srgbClr val="D8870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88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735449" y="6419088"/>
            <a:ext cx="1304163" cy="292608"/>
          </a:xfrm>
          <a:prstGeom prst="roundRect">
            <a:avLst>
              <a:gd name="adj" fmla="val 18750"/>
            </a:avLst>
          </a:prstGeom>
          <a:solidFill>
            <a:srgbClr val="D88700"/>
          </a:solidFill>
          <a:ln w="10160">
            <a:solidFill>
              <a:srgbClr val="D8870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GTM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149340" y="6419088"/>
            <a:ext cx="1304163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0160">
            <a:solidFill>
              <a:srgbClr val="D8870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88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7563231" y="6419088"/>
            <a:ext cx="1304163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0160">
            <a:solidFill>
              <a:srgbClr val="D8870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88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Finance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8977122" y="6419088"/>
            <a:ext cx="1304163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0160">
            <a:solidFill>
              <a:srgbClr val="D8870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88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Landscape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0391013" y="6419088"/>
            <a:ext cx="1304163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0160">
            <a:solidFill>
              <a:srgbClr val="D8870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88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8778240" y="804672"/>
            <a:ext cx="2487168" cy="694944"/>
          </a:xfrm>
          <a:prstGeom prst="roundRect">
            <a:avLst>
              <a:gd name="adj" fmla="val 10526"/>
            </a:avLst>
          </a:prstGeom>
          <a:solidFill>
            <a:srgbClr val="061A33"/>
          </a:solidFill>
          <a:ln w="12700">
            <a:solidFill>
              <a:srgbClr val="061A33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150–200
</a:t>
            </a:r>
            <a:endParaRPr lang="en-US" sz="21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hợp đồng B2B năm đầu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594360" y="1828800"/>
            <a:ext cx="333756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0160">
            <a:solidFill>
              <a:srgbClr val="E7D8C9"/>
            </a:solidFill>
          </a:ln>
        </p:spPr>
        <p:txBody>
          <a:bodyPr wrap="square" lIns="2540" tIns="2540" rIns="2540" bIns="254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· TRIGGER
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05050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Tạo nhận diện &amp; lead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05050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Short-video / Reels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05050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Micro-influencer ngành Marketing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05050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Guest post startup / business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931920" y="3200400"/>
            <a:ext cx="173736" cy="0"/>
          </a:xfrm>
          <a:prstGeom prst="line">
            <a:avLst/>
          </a:prstGeom>
          <a:noFill/>
          <a:ln w="1397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4361688" y="1828800"/>
            <a:ext cx="3337560" cy="2743200"/>
          </a:xfrm>
          <a:prstGeom prst="roundRect">
            <a:avLst>
              <a:gd name="adj" fmla="val 2667"/>
            </a:avLst>
          </a:prstGeom>
          <a:solidFill>
            <a:srgbClr val="061A33"/>
          </a:solidFill>
          <a:ln w="10160">
            <a:solidFill>
              <a:srgbClr val="061A33"/>
            </a:solidFill>
          </a:ln>
        </p:spPr>
        <p:txBody>
          <a:bodyPr wrap="square" lIns="2540" tIns="2540" rIns="2540" bIns="254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· ENGAGE
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Kích hoạt dùng thử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 magnet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Seeding cộng đồng Local Brand / KOC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Referral / Affiliate loop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699248" y="3200400"/>
            <a:ext cx="173736" cy="0"/>
          </a:xfrm>
          <a:prstGeom prst="line">
            <a:avLst/>
          </a:prstGeom>
          <a:noFill/>
          <a:ln w="1397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8129016" y="1828800"/>
            <a:ext cx="333756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0160">
            <a:solidFill>
              <a:srgbClr val="E7D8C9"/>
            </a:solidFill>
          </a:ln>
        </p:spPr>
        <p:txBody>
          <a:bodyPr wrap="square" lIns="2540" tIns="2540" rIns="2540" bIns="254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· CONVERT
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05050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Chốt B2B &amp; giữ chân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05050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Cold outreach Founder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05050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Onboarding chiến dịch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05050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 Study đầu tiên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4360" y="4864608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061A33"/>
          </a:solidFill>
          <a:ln w="10160">
            <a:solidFill>
              <a:srgbClr val="061A3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NORTH STAR
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Reach 50K → 200K · Engagement 5K → 20K · Contracts 150–200 · Referral giảm CAC, LTV tăng từ add-ons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88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HIVE-K PITCH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1965960" y="329184"/>
            <a:ext cx="9738360" cy="0"/>
          </a:xfrm>
          <a:prstGeom prst="line">
            <a:avLst/>
          </a:prstGeom>
          <a:noFill/>
          <a:ln w="13970">
            <a:solidFill>
              <a:srgbClr val="D887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698480" y="15544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5050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Hive-K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" y="58521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5050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Roadmap &amp; Milestones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429768" y="111556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Từ MVP thật → case study → doanh thu SaaS → khai thác hệ sinh thái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93776" y="6419088"/>
            <a:ext cx="1304163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0160">
            <a:solidFill>
              <a:srgbClr val="D8870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88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Solution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907667" y="6419088"/>
            <a:ext cx="1304163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0160">
            <a:solidFill>
              <a:srgbClr val="D8870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88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BMC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321558" y="6419088"/>
            <a:ext cx="1304163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0160">
            <a:solidFill>
              <a:srgbClr val="D8870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88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735449" y="6419088"/>
            <a:ext cx="1304163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0160">
            <a:solidFill>
              <a:srgbClr val="D8870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88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GTM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149340" y="6419088"/>
            <a:ext cx="1304163" cy="292608"/>
          </a:xfrm>
          <a:prstGeom prst="roundRect">
            <a:avLst>
              <a:gd name="adj" fmla="val 18750"/>
            </a:avLst>
          </a:prstGeom>
          <a:solidFill>
            <a:srgbClr val="D88700"/>
          </a:solidFill>
          <a:ln w="10160">
            <a:solidFill>
              <a:srgbClr val="D8870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7563231" y="6419088"/>
            <a:ext cx="1304163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0160">
            <a:solidFill>
              <a:srgbClr val="D8870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88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Finance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8977122" y="6419088"/>
            <a:ext cx="1304163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0160">
            <a:solidFill>
              <a:srgbClr val="D8870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88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Landscape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0391013" y="6419088"/>
            <a:ext cx="1304163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0160">
            <a:solidFill>
              <a:srgbClr val="D8870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88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66928" y="1874520"/>
            <a:ext cx="2148840" cy="242316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0160">
            <a:solidFill>
              <a:srgbClr val="E5AE4C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0–3 tháng
</a:t>
            </a:r>
            <a:endParaRPr lang="en-US" sz="1250" dirty="0"/>
          </a:p>
          <a:p>
            <a:pPr indent="0" marL="0">
              <a:buNone/>
            </a:pPr>
            <a:r>
              <a:rPr lang="en-US" sz="820" dirty="0">
                <a:solidFill>
                  <a:srgbClr val="05050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MVP Ready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820" dirty="0">
                <a:solidFill>
                  <a:srgbClr val="05050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Hoàn thiện core: campaign, matching, dashboard</a:t>
            </a:r>
            <a:endParaRPr lang="en-US" sz="1250" dirty="0"/>
          </a:p>
          <a:p>
            <a:pPr indent="0" marL="0">
              <a:buNone/>
            </a:pPr>
            <a:r>
              <a:rPr lang="en-US" sz="820" dirty="0">
                <a:solidFill>
                  <a:srgbClr val="05050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KPI: 50 early adopters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715768" y="3081528"/>
            <a:ext cx="128016" cy="0"/>
          </a:xfrm>
          <a:prstGeom prst="line">
            <a:avLst/>
          </a:prstGeom>
          <a:noFill/>
          <a:ln w="13970">
            <a:solidFill>
              <a:srgbClr val="D88700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2880360" y="1874520"/>
            <a:ext cx="2148840" cy="242316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0160">
            <a:solidFill>
              <a:srgbClr val="E5AE4C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3–6 tháng
</a:t>
            </a:r>
            <a:endParaRPr lang="en-US" sz="1250" dirty="0"/>
          </a:p>
          <a:p>
            <a:pPr indent="0" marL="0">
              <a:buNone/>
            </a:pPr>
            <a:r>
              <a:rPr lang="en-US" sz="820" dirty="0">
                <a:solidFill>
                  <a:srgbClr val="05050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 Validation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820" dirty="0">
                <a:solidFill>
                  <a:srgbClr val="05050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10–20 B2B dùng thật</a:t>
            </a:r>
            <a:endParaRPr lang="en-US" sz="1250" dirty="0"/>
          </a:p>
          <a:p>
            <a:pPr indent="0" marL="0">
              <a:buNone/>
            </a:pPr>
            <a:r>
              <a:rPr lang="en-US" sz="820" dirty="0">
                <a:solidFill>
                  <a:srgbClr val="05050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 study đầu tiên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029200" y="3081528"/>
            <a:ext cx="128016" cy="0"/>
          </a:xfrm>
          <a:prstGeom prst="line">
            <a:avLst/>
          </a:prstGeom>
          <a:noFill/>
          <a:ln w="13970">
            <a:solidFill>
              <a:srgbClr val="D88700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5193792" y="1874520"/>
            <a:ext cx="2148840" cy="2423160"/>
          </a:xfrm>
          <a:prstGeom prst="roundRect">
            <a:avLst>
              <a:gd name="adj" fmla="val 3404"/>
            </a:avLst>
          </a:prstGeom>
          <a:solidFill>
            <a:srgbClr val="061A33"/>
          </a:solidFill>
          <a:ln w="10160">
            <a:solidFill>
              <a:srgbClr val="061A33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6–12 tháng
</a:t>
            </a:r>
            <a:endParaRPr lang="en-US" sz="1250" dirty="0"/>
          </a:p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Paid Adoption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 subscription</a:t>
            </a:r>
            <a:endParaRPr lang="en-US" sz="1250" dirty="0"/>
          </a:p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KPI: 150–200 hợp đồng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342632" y="3081528"/>
            <a:ext cx="128016" cy="0"/>
          </a:xfrm>
          <a:prstGeom prst="line">
            <a:avLst/>
          </a:prstGeom>
          <a:noFill/>
          <a:ln w="13970">
            <a:solidFill>
              <a:srgbClr val="D88700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7507224" y="1874520"/>
            <a:ext cx="2148840" cy="242316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0160">
            <a:solidFill>
              <a:srgbClr val="E5AE4C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FY2027
</a:t>
            </a:r>
            <a:endParaRPr lang="en-US" sz="1250" dirty="0"/>
          </a:p>
          <a:p>
            <a:pPr indent="0" marL="0">
              <a:buNone/>
            </a:pPr>
            <a:r>
              <a:rPr lang="en-US" sz="820" dirty="0">
                <a:solidFill>
                  <a:srgbClr val="05050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820" dirty="0">
                <a:solidFill>
                  <a:srgbClr val="05050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Premium / Enterprise</a:t>
            </a:r>
            <a:endParaRPr lang="en-US" sz="1250" dirty="0"/>
          </a:p>
          <a:p>
            <a:pPr indent="0" marL="0">
              <a:buNone/>
            </a:pPr>
            <a:r>
              <a:rPr lang="en-US" sz="820" dirty="0">
                <a:solidFill>
                  <a:srgbClr val="05050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KOC Affiliate + Webinar + Micro-SEO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9656064" y="3081528"/>
            <a:ext cx="128016" cy="0"/>
          </a:xfrm>
          <a:prstGeom prst="line">
            <a:avLst/>
          </a:prstGeom>
          <a:noFill/>
          <a:ln w="13970">
            <a:solidFill>
              <a:srgbClr val="D88700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9820656" y="1874520"/>
            <a:ext cx="2148840" cy="242316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0160">
            <a:solidFill>
              <a:srgbClr val="E5AE4C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FY2028+
</a:t>
            </a:r>
            <a:endParaRPr lang="en-US" sz="1250" dirty="0"/>
          </a:p>
          <a:p>
            <a:pPr indent="0" marL="0">
              <a:buNone/>
            </a:pPr>
            <a:r>
              <a:rPr lang="en-US" sz="820" dirty="0">
                <a:solidFill>
                  <a:srgbClr val="05050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Ecosystem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820" dirty="0">
                <a:solidFill>
                  <a:srgbClr val="05050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Commission 10%</a:t>
            </a:r>
            <a:endParaRPr lang="en-US" sz="1250" dirty="0"/>
          </a:p>
          <a:p>
            <a:pPr indent="0" marL="0">
              <a:buNone/>
            </a:pPr>
            <a:r>
              <a:rPr lang="en-US" sz="820" dirty="0">
                <a:solidFill>
                  <a:srgbClr val="05050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B2B Ads &amp; Lead Gen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31520" y="4773168"/>
            <a:ext cx="10561320" cy="841248"/>
          </a:xfrm>
          <a:prstGeom prst="roundRect">
            <a:avLst>
              <a:gd name="adj" fmla="val 8696"/>
            </a:avLst>
          </a:prstGeom>
          <a:solidFill>
            <a:srgbClr val="FFF3E1"/>
          </a:solidFill>
          <a:ln w="10160">
            <a:solidFill>
              <a:srgbClr val="E5AE4C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D88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Mục tiêu 5 năm
</a:t>
            </a:r>
            <a:endParaRPr lang="en-US" sz="1050" dirty="0"/>
          </a:p>
          <a:p>
            <a:pPr indent="0" marL="0">
              <a:buNone/>
            </a:pPr>
            <a:r>
              <a:rPr lang="en-US" sz="950" dirty="0">
                <a:solidFill>
                  <a:srgbClr val="05050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Đạt 5% SAM với 1.116 hợp đồng; mở rộng từ SaaS vận hành chiến dịch sang marketplace giao dịch KOL/KOC có lớp bảo chứng tín nhiệm.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88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HIVE-K PITCH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1965960" y="329184"/>
            <a:ext cx="9738360" cy="0"/>
          </a:xfrm>
          <a:prstGeom prst="line">
            <a:avLst/>
          </a:prstGeom>
          <a:noFill/>
          <a:ln w="13970">
            <a:solidFill>
              <a:srgbClr val="D887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698480" y="15544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5050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Hive-K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" y="58521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5050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Financial Snapshot &amp; Ask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429768" y="111556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Dùng vốn Year 0 để xây core MVP, sau đó tăng trưởng theo hợp đồng B2B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93776" y="6419088"/>
            <a:ext cx="1304163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0160">
            <a:solidFill>
              <a:srgbClr val="D8870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88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Solution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907667" y="6419088"/>
            <a:ext cx="1304163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0160">
            <a:solidFill>
              <a:srgbClr val="D8870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88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BMC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321558" y="6419088"/>
            <a:ext cx="1304163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0160">
            <a:solidFill>
              <a:srgbClr val="D8870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88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735449" y="6419088"/>
            <a:ext cx="1304163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0160">
            <a:solidFill>
              <a:srgbClr val="D8870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88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GTM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149340" y="6419088"/>
            <a:ext cx="1304163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0160">
            <a:solidFill>
              <a:srgbClr val="D8870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88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7563231" y="6419088"/>
            <a:ext cx="1304163" cy="292608"/>
          </a:xfrm>
          <a:prstGeom prst="roundRect">
            <a:avLst>
              <a:gd name="adj" fmla="val 18750"/>
            </a:avLst>
          </a:prstGeom>
          <a:solidFill>
            <a:srgbClr val="D88700"/>
          </a:solidFill>
          <a:ln w="10160">
            <a:solidFill>
              <a:srgbClr val="D8870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Finance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8977122" y="6419088"/>
            <a:ext cx="1304163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0160">
            <a:solidFill>
              <a:srgbClr val="D8870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88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Landscape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0391013" y="6419088"/>
            <a:ext cx="1304163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0160">
            <a:solidFill>
              <a:srgbClr val="D8870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88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371600" y="111556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Triệu VNĐ</a:t>
            </a:r>
            <a:endParaRPr lang="en-US" sz="760" dirty="0"/>
          </a:p>
        </p:txBody>
      </p:sp>
      <p:sp>
        <p:nvSpPr>
          <p:cNvPr id="16" name="Text 14"/>
          <p:cNvSpPr/>
          <p:nvPr/>
        </p:nvSpPr>
        <p:spPr>
          <a:xfrm>
            <a:off x="594360" y="152704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5050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2027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188720" y="1508760"/>
            <a:ext cx="253746" cy="237744"/>
          </a:xfrm>
          <a:prstGeom prst="rect">
            <a:avLst/>
          </a:prstGeom>
          <a:solidFill>
            <a:srgbClr val="9B5C00"/>
          </a:solidFill>
          <a:ln>
            <a:solidFill>
              <a:srgbClr val="9B5C0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1.350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6510528" y="148132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05050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200 hợp đồng</a:t>
            </a:r>
            <a:endParaRPr lang="en-US" sz="760" dirty="0"/>
          </a:p>
        </p:txBody>
      </p:sp>
      <p:sp>
        <p:nvSpPr>
          <p:cNvPr id="19" name="Text 17"/>
          <p:cNvSpPr/>
          <p:nvPr/>
        </p:nvSpPr>
        <p:spPr>
          <a:xfrm>
            <a:off x="594360" y="2203704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5050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2028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188720" y="2185416"/>
            <a:ext cx="789432" cy="237744"/>
          </a:xfrm>
          <a:prstGeom prst="rect">
            <a:avLst/>
          </a:prstGeom>
          <a:solidFill>
            <a:srgbClr val="9B5C00"/>
          </a:solidFill>
          <a:ln>
            <a:solidFill>
              <a:srgbClr val="9B5C0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4.200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6510528" y="215798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05050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335 SOM hợp đồng</a:t>
            </a:r>
            <a:endParaRPr lang="en-US" sz="760" dirty="0"/>
          </a:p>
        </p:txBody>
      </p:sp>
      <p:sp>
        <p:nvSpPr>
          <p:cNvPr id="22" name="Text 20"/>
          <p:cNvSpPr/>
          <p:nvPr/>
        </p:nvSpPr>
        <p:spPr>
          <a:xfrm>
            <a:off x="594360" y="288036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5050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2029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188720" y="2862072"/>
            <a:ext cx="1409700" cy="237744"/>
          </a:xfrm>
          <a:prstGeom prst="rect">
            <a:avLst/>
          </a:prstGeom>
          <a:solidFill>
            <a:srgbClr val="9B5C00"/>
          </a:solidFill>
          <a:ln>
            <a:solidFill>
              <a:srgbClr val="9B5C0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7.500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2598420" y="2862072"/>
            <a:ext cx="657860" cy="23774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3.500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6510528" y="28346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05050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550 hợp đồng</a:t>
            </a:r>
            <a:endParaRPr lang="en-US" sz="760" dirty="0"/>
          </a:p>
        </p:txBody>
      </p:sp>
      <p:sp>
        <p:nvSpPr>
          <p:cNvPr id="26" name="Text 24"/>
          <p:cNvSpPr/>
          <p:nvPr/>
        </p:nvSpPr>
        <p:spPr>
          <a:xfrm>
            <a:off x="594360" y="3557016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5050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2030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188720" y="3538728"/>
            <a:ext cx="2161540" cy="237744"/>
          </a:xfrm>
          <a:prstGeom prst="rect">
            <a:avLst/>
          </a:prstGeom>
          <a:solidFill>
            <a:srgbClr val="9B5C00"/>
          </a:solidFill>
          <a:ln>
            <a:solidFill>
              <a:srgbClr val="9B5C0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11.500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3350260" y="3538728"/>
            <a:ext cx="1447292" cy="23774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7.700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6510528" y="351129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05050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800 hợp đồng</a:t>
            </a:r>
            <a:endParaRPr lang="en-US" sz="760" dirty="0"/>
          </a:p>
        </p:txBody>
      </p:sp>
      <p:sp>
        <p:nvSpPr>
          <p:cNvPr id="30" name="Text 28"/>
          <p:cNvSpPr/>
          <p:nvPr/>
        </p:nvSpPr>
        <p:spPr>
          <a:xfrm>
            <a:off x="594360" y="423367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5050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2031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188720" y="4215384"/>
            <a:ext cx="2913380" cy="237744"/>
          </a:xfrm>
          <a:prstGeom prst="rect">
            <a:avLst/>
          </a:prstGeom>
          <a:solidFill>
            <a:srgbClr val="9B5C00"/>
          </a:solidFill>
          <a:ln>
            <a:solidFill>
              <a:srgbClr val="9B5C0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15.500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4102100" y="4215384"/>
            <a:ext cx="2120941" cy="23774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11.284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6510528" y="418795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05050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1.116 hợp đồng</a:t>
            </a:r>
            <a:endParaRPr lang="en-US" sz="760" dirty="0"/>
          </a:p>
        </p:txBody>
      </p:sp>
      <p:sp>
        <p:nvSpPr>
          <p:cNvPr id="34" name="Text 32"/>
          <p:cNvSpPr/>
          <p:nvPr/>
        </p:nvSpPr>
        <p:spPr>
          <a:xfrm>
            <a:off x="1325880" y="489204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9B5C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Tổng chi phí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2331720" y="48920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Lợi nhuận ròng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607808" y="1572768"/>
            <a:ext cx="3520440" cy="868680"/>
          </a:xfrm>
          <a:prstGeom prst="roundRect">
            <a:avLst>
              <a:gd name="adj" fmla="val 8421"/>
            </a:avLst>
          </a:prstGeom>
          <a:solidFill>
            <a:srgbClr val="061A33"/>
          </a:solidFill>
          <a:ln w="12700">
            <a:solidFill>
              <a:srgbClr val="061A33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90.000.000 VNĐ
</a:t>
            </a:r>
            <a:endParaRPr lang="en-US" sz="21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· vốn đầu tư ban đầu Year 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7607808" y="2926080"/>
            <a:ext cx="1627632" cy="1115568"/>
          </a:xfrm>
          <a:prstGeom prst="roundRect">
            <a:avLst>
              <a:gd name="adj" fmla="val 6557"/>
            </a:avLst>
          </a:prstGeom>
          <a:solidFill>
            <a:srgbClr val="FFF3E1"/>
          </a:solidFill>
          <a:ln w="10160">
            <a:solidFill>
              <a:srgbClr val="E5AE4C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D88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45%
</a:t>
            </a:r>
            <a:endParaRPr lang="en-US" sz="2200" dirty="0"/>
          </a:p>
          <a:p>
            <a:pPr indent="0" marL="0">
              <a:buNone/>
            </a:pPr>
            <a:r>
              <a:rPr lang="en-US" sz="840" dirty="0">
                <a:solidFill>
                  <a:srgbClr val="05050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Phát triển Core MVP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9418320" y="2926080"/>
            <a:ext cx="1627632" cy="1115568"/>
          </a:xfrm>
          <a:prstGeom prst="roundRect">
            <a:avLst>
              <a:gd name="adj" fmla="val 6557"/>
            </a:avLst>
          </a:prstGeom>
          <a:solidFill>
            <a:srgbClr val="FFF3E1"/>
          </a:solidFill>
          <a:ln w="10160">
            <a:solidFill>
              <a:srgbClr val="E5AE4C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D88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25%
</a:t>
            </a:r>
            <a:endParaRPr lang="en-US" sz="2200" dirty="0"/>
          </a:p>
          <a:p>
            <a:pPr indent="0" marL="0">
              <a:buNone/>
            </a:pPr>
            <a:r>
              <a:rPr lang="en-US" sz="840" dirty="0">
                <a:solidFill>
                  <a:srgbClr val="05050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Hạ tầng &amp; Security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7607808" y="4315968"/>
            <a:ext cx="1627632" cy="1115568"/>
          </a:xfrm>
          <a:prstGeom prst="roundRect">
            <a:avLst>
              <a:gd name="adj" fmla="val 6557"/>
            </a:avLst>
          </a:prstGeom>
          <a:solidFill>
            <a:srgbClr val="FFF3E1"/>
          </a:solidFill>
          <a:ln w="10160">
            <a:solidFill>
              <a:srgbClr val="E5AE4C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D88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15%
</a:t>
            </a:r>
            <a:endParaRPr lang="en-US" sz="2200" dirty="0"/>
          </a:p>
          <a:p>
            <a:pPr indent="0" marL="0">
              <a:buNone/>
            </a:pPr>
            <a:r>
              <a:rPr lang="en-US" sz="840" dirty="0">
                <a:solidFill>
                  <a:srgbClr val="05050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Thiết kế UI/UX &amp; Brand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9418320" y="4315968"/>
            <a:ext cx="1627632" cy="1115568"/>
          </a:xfrm>
          <a:prstGeom prst="roundRect">
            <a:avLst>
              <a:gd name="adj" fmla="val 6557"/>
            </a:avLst>
          </a:prstGeom>
          <a:solidFill>
            <a:srgbClr val="FFF3E1"/>
          </a:solidFill>
          <a:ln w="10160">
            <a:solidFill>
              <a:srgbClr val="E5AE4C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D88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15%
</a:t>
            </a:r>
            <a:endParaRPr lang="en-US" sz="2200" dirty="0"/>
          </a:p>
          <a:p>
            <a:pPr indent="0" marL="0">
              <a:buNone/>
            </a:pPr>
            <a:r>
              <a:rPr lang="en-US" sz="840" dirty="0">
                <a:solidFill>
                  <a:srgbClr val="05050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Dự phòng vận hành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7635240" y="265176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88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of Fund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88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HIVE-K PITCH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1965960" y="329184"/>
            <a:ext cx="9738360" cy="0"/>
          </a:xfrm>
          <a:prstGeom prst="line">
            <a:avLst/>
          </a:prstGeom>
          <a:noFill/>
          <a:ln w="13970">
            <a:solidFill>
              <a:srgbClr val="D887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698480" y="15544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5050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Hive-K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" y="58521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5050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Cost Optimization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429768" y="111556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Từ vận hành thủ công sang agent tự động hóa các tác vụ lặp lại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93776" y="6419088"/>
            <a:ext cx="1304163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0160">
            <a:solidFill>
              <a:srgbClr val="D8870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88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Solution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907667" y="6419088"/>
            <a:ext cx="1304163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0160">
            <a:solidFill>
              <a:srgbClr val="D8870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88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BMC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321558" y="6419088"/>
            <a:ext cx="1304163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0160">
            <a:solidFill>
              <a:srgbClr val="D8870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88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735449" y="6419088"/>
            <a:ext cx="1304163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0160">
            <a:solidFill>
              <a:srgbClr val="D8870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88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GTM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149340" y="6419088"/>
            <a:ext cx="1304163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0160">
            <a:solidFill>
              <a:srgbClr val="D8870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88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7563231" y="6419088"/>
            <a:ext cx="1304163" cy="292608"/>
          </a:xfrm>
          <a:prstGeom prst="roundRect">
            <a:avLst>
              <a:gd name="adj" fmla="val 18750"/>
            </a:avLst>
          </a:prstGeom>
          <a:solidFill>
            <a:srgbClr val="D88700"/>
          </a:solidFill>
          <a:ln w="10160">
            <a:solidFill>
              <a:srgbClr val="D8870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Finance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8977122" y="6419088"/>
            <a:ext cx="1304163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0160">
            <a:solidFill>
              <a:srgbClr val="D8870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88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Landscape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0391013" y="6419088"/>
            <a:ext cx="1304163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0160">
            <a:solidFill>
              <a:srgbClr val="D8870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88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40080" y="1572768"/>
            <a:ext cx="2971800" cy="3429000"/>
          </a:xfrm>
          <a:prstGeom prst="roundRect">
            <a:avLst>
              <a:gd name="adj" fmla="val 2462"/>
            </a:avLst>
          </a:prstGeom>
          <a:solidFill>
            <a:srgbClr val="050505"/>
          </a:solidFill>
          <a:ln w="10160">
            <a:solidFill>
              <a:srgbClr val="F59E0B"/>
            </a:solidFill>
          </a:ln>
        </p:spPr>
        <p:txBody>
          <a:bodyPr wrap="square" lIns="3175" tIns="3175" rIns="3175" bIns="3175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E4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Hiện trạng
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Quỹ lương tháng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7.000.000 VNĐ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Tổng thời gian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194,2 giờ/tháng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 phí / giờ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~36.000 VNĐ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913632" y="1572768"/>
            <a:ext cx="4160520" cy="3429000"/>
          </a:xfrm>
          <a:prstGeom prst="roundRect">
            <a:avLst>
              <a:gd name="adj" fmla="val 2133"/>
            </a:avLst>
          </a:prstGeom>
          <a:solidFill>
            <a:srgbClr val="061A33"/>
          </a:solidFill>
          <a:ln w="10160">
            <a:solidFill>
              <a:srgbClr val="F59E0B"/>
            </a:solidFill>
          </a:ln>
        </p:spPr>
        <p:txBody>
          <a:bodyPr wrap="square" lIns="3175" tIns="3175" rIns="3175" bIns="3175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xử lý
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Inbox / Comment: -22,7h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Lên lịch &amp; đăng bài: -16,2h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Lọc KOL/KOC: -1,0h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Tự động hóa các đầu việc lặp lại, ít cần phán đoán sâu.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375904" y="1572768"/>
            <a:ext cx="2880360" cy="960120"/>
          </a:xfrm>
          <a:prstGeom prst="roundRect">
            <a:avLst>
              <a:gd name="adj" fmla="val 7619"/>
            </a:avLst>
          </a:prstGeom>
          <a:solidFill>
            <a:srgbClr val="D88700"/>
          </a:solidFill>
          <a:ln w="12700">
            <a:solidFill>
              <a:srgbClr val="D88700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40h
</a:t>
            </a:r>
            <a:endParaRPr lang="en-US" sz="28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giờ làm việc / tháng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8375904" y="2788920"/>
            <a:ext cx="2880360" cy="960120"/>
          </a:xfrm>
          <a:prstGeom prst="roundRect">
            <a:avLst>
              <a:gd name="adj" fmla="val 7619"/>
            </a:avLst>
          </a:prstGeom>
          <a:solidFill>
            <a:srgbClr val="D88700"/>
          </a:solidFill>
          <a:ln w="12700">
            <a:solidFill>
              <a:srgbClr val="D88700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1,44M
</a:t>
            </a:r>
            <a:endParaRPr lang="en-US" sz="28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VNĐ tiết kiệm / tháng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8375904" y="4005072"/>
            <a:ext cx="2880360" cy="960120"/>
          </a:xfrm>
          <a:prstGeom prst="roundRect">
            <a:avLst>
              <a:gd name="adj" fmla="val 7619"/>
            </a:avLst>
          </a:prstGeom>
          <a:solidFill>
            <a:srgbClr val="D88700"/>
          </a:solidFill>
          <a:ln w="12700">
            <a:solidFill>
              <a:srgbClr val="D88700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21%
</a:t>
            </a:r>
            <a:endParaRPr lang="en-US" sz="28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tổng quỹ lương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713232" y="5285232"/>
            <a:ext cx="10469880" cy="640080"/>
          </a:xfrm>
          <a:prstGeom prst="roundRect">
            <a:avLst>
              <a:gd name="adj" fmla="val 11429"/>
            </a:avLst>
          </a:prstGeom>
          <a:solidFill>
            <a:srgbClr val="FFF3E1"/>
          </a:solidFill>
          <a:ln w="10160">
            <a:solidFill>
              <a:srgbClr val="E5AE4C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D88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Ý nghĩa với SME
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5050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Không thay thế toàn bộ con người; Hive-K giúp đội marketing nhỏ xử lý nhiều campaign hơn với cùng nguồn lực.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88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HIVE-K PITCH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1965960" y="329184"/>
            <a:ext cx="9738360" cy="0"/>
          </a:xfrm>
          <a:prstGeom prst="line">
            <a:avLst/>
          </a:prstGeom>
          <a:noFill/>
          <a:ln w="13970">
            <a:solidFill>
              <a:srgbClr val="D887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698480" y="15544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5050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Hive-K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" y="58521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5050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Competitive Landscape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429768" y="111556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Hive-K định vị ở giao điểm giữa hiệu quả vận hành campaign và lớp minh bạch/tín nhiệm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93776" y="6419088"/>
            <a:ext cx="1304163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0160">
            <a:solidFill>
              <a:srgbClr val="D8870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88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Solution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907667" y="6419088"/>
            <a:ext cx="1304163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0160">
            <a:solidFill>
              <a:srgbClr val="D8870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88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BMC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321558" y="6419088"/>
            <a:ext cx="1304163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0160">
            <a:solidFill>
              <a:srgbClr val="D8870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88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735449" y="6419088"/>
            <a:ext cx="1304163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0160">
            <a:solidFill>
              <a:srgbClr val="D8870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88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GTM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149340" y="6419088"/>
            <a:ext cx="1304163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0160">
            <a:solidFill>
              <a:srgbClr val="D8870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88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7563231" y="6419088"/>
            <a:ext cx="1304163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0160">
            <a:solidFill>
              <a:srgbClr val="D8870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88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Finance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8977122" y="6419088"/>
            <a:ext cx="1304163" cy="292608"/>
          </a:xfrm>
          <a:prstGeom prst="roundRect">
            <a:avLst>
              <a:gd name="adj" fmla="val 18750"/>
            </a:avLst>
          </a:prstGeom>
          <a:solidFill>
            <a:srgbClr val="D88700"/>
          </a:solidFill>
          <a:ln w="10160">
            <a:solidFill>
              <a:srgbClr val="D8870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Landscape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0391013" y="6419088"/>
            <a:ext cx="1304163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0160">
            <a:solidFill>
              <a:srgbClr val="D8870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88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788920" y="559612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Hiệu quả vận hành chiến dịch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 rot="16200000">
            <a:off x="420624" y="331012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Minh bạch / tín nhiệm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325880" y="5230368"/>
            <a:ext cx="7498080" cy="0"/>
          </a:xfrm>
          <a:prstGeom prst="line">
            <a:avLst/>
          </a:prstGeom>
          <a:noFill/>
          <a:ln w="15240">
            <a:solidFill>
              <a:srgbClr val="E7D8C9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325880" y="5230368"/>
            <a:ext cx="0" cy="-3840480"/>
          </a:xfrm>
          <a:prstGeom prst="line">
            <a:avLst/>
          </a:prstGeom>
          <a:noFill/>
          <a:ln w="15240">
            <a:solidFill>
              <a:srgbClr val="E7D8C9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2011680" y="4251960"/>
            <a:ext cx="15087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0160">
            <a:solidFill>
              <a:srgbClr val="E7D8C9"/>
            </a:solidFill>
          </a:ln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D88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Revu Việt Nam
</a:t>
            </a:r>
            <a:endParaRPr lang="en-US" sz="850" dirty="0"/>
          </a:p>
          <a:p>
            <a:pPr indent="0" marL="0">
              <a:buNone/>
            </a:pPr>
            <a:r>
              <a:rPr lang="en-US" sz="650" dirty="0">
                <a:solidFill>
                  <a:srgbClr val="05050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Mạng lưới nano/micro lớn</a:t>
            </a:r>
            <a:endParaRPr lang="en-US" sz="850" dirty="0"/>
          </a:p>
          <a:p>
            <a:pPr indent="0" marL="0">
              <a:buNone/>
            </a:pPr>
            <a:r>
              <a:rPr lang="en-US" sz="650" dirty="0">
                <a:solidFill>
                  <a:srgbClr val="05050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Thiếu minh bạch người dùng cuối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886200" y="3429000"/>
            <a:ext cx="15087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0160">
            <a:solidFill>
              <a:srgbClr val="E7D8C9"/>
            </a:solidFill>
          </a:ln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D88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Onfluencer
</a:t>
            </a:r>
            <a:endParaRPr lang="en-US" sz="850" dirty="0"/>
          </a:p>
          <a:p>
            <a:pPr indent="0" marL="0">
              <a:buNone/>
            </a:pPr>
            <a:r>
              <a:rPr lang="en-US" sz="650" dirty="0">
                <a:solidFill>
                  <a:srgbClr val="05050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Đo lường tốt</a:t>
            </a:r>
            <a:endParaRPr lang="en-US" sz="850" dirty="0"/>
          </a:p>
          <a:p>
            <a:pPr indent="0" marL="0">
              <a:buNone/>
            </a:pPr>
            <a:r>
              <a:rPr lang="en-US" sz="650" dirty="0">
                <a:solidFill>
                  <a:srgbClr val="05050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Thiếu feedback thực tế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623560" y="2743200"/>
            <a:ext cx="15087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0160">
            <a:solidFill>
              <a:srgbClr val="E7D8C9"/>
            </a:solidFill>
          </a:ln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D88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Hiip Asia
</a:t>
            </a:r>
            <a:endParaRPr lang="en-US" sz="850" dirty="0"/>
          </a:p>
          <a:p>
            <a:pPr indent="0" marL="0">
              <a:buNone/>
            </a:pPr>
            <a:r>
              <a:rPr lang="en-US" sz="650" dirty="0">
                <a:solidFill>
                  <a:srgbClr val="05050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matching mạnh</a:t>
            </a:r>
            <a:endParaRPr lang="en-US" sz="850" dirty="0"/>
          </a:p>
          <a:p>
            <a:pPr indent="0" marL="0">
              <a:buNone/>
            </a:pPr>
            <a:r>
              <a:rPr lang="en-US" sz="650" dirty="0">
                <a:solidFill>
                  <a:srgbClr val="05050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 phí cao, enterprise-heavy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995160" y="3337560"/>
            <a:ext cx="15087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0160">
            <a:solidFill>
              <a:srgbClr val="E7D8C9"/>
            </a:solidFill>
          </a:ln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D88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AnyTag
</a:t>
            </a:r>
            <a:endParaRPr lang="en-US" sz="850" dirty="0"/>
          </a:p>
          <a:p>
            <a:pPr indent="0" marL="0">
              <a:buNone/>
            </a:pPr>
            <a:r>
              <a:rPr lang="en-US" sz="650" dirty="0">
                <a:solidFill>
                  <a:srgbClr val="05050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Dữ liệu mạnh</a:t>
            </a:r>
            <a:endParaRPr lang="en-US" sz="850" dirty="0"/>
          </a:p>
          <a:p>
            <a:pPr indent="0" marL="0">
              <a:buNone/>
            </a:pPr>
            <a:r>
              <a:rPr lang="en-US" sz="650" dirty="0">
                <a:solidFill>
                  <a:srgbClr val="05050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Phức tạp, chi phí cao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7635240" y="1664208"/>
            <a:ext cx="1874520" cy="841248"/>
          </a:xfrm>
          <a:prstGeom prst="roundRect">
            <a:avLst>
              <a:gd name="adj" fmla="val 8696"/>
            </a:avLst>
          </a:prstGeom>
          <a:solidFill>
            <a:srgbClr val="061A33"/>
          </a:solidFill>
          <a:ln w="10160">
            <a:solidFill>
              <a:srgbClr val="F59E0B"/>
            </a:solidFill>
          </a:ln>
        </p:spPr>
        <p:txBody>
          <a:bodyPr wrap="square" lIns="889" tIns="889" rIns="889" bIns="889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HIVE-K
</a:t>
            </a:r>
            <a:endParaRPr lang="en-US" sz="1000" dirty="0"/>
          </a:p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Campaign automation + Trust layer</a:t>
            </a:r>
            <a:endParaRPr lang="en-US" sz="1000" dirty="0"/>
          </a:p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Phù hợp SME/Local Brand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985248" y="1600200"/>
            <a:ext cx="1691640" cy="969264"/>
          </a:xfrm>
          <a:prstGeom prst="roundRect">
            <a:avLst>
              <a:gd name="adj" fmla="val 7547"/>
            </a:avLst>
          </a:prstGeom>
          <a:solidFill>
            <a:srgbClr val="FFF3E1"/>
          </a:solidFill>
          <a:ln w="10160">
            <a:solidFill>
              <a:srgbClr val="E5AE4C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D88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Winning Zone
</a:t>
            </a:r>
            <a:endParaRPr lang="en-US" sz="1150" dirty="0"/>
          </a:p>
          <a:p>
            <a:pPr indent="0" marL="0">
              <a:buNone/>
            </a:pPr>
            <a:r>
              <a:rPr lang="en-US" sz="850" dirty="0">
                <a:solidFill>
                  <a:srgbClr val="05050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Hiệu quả vận hành</a:t>
            </a:r>
            <a:endParaRPr lang="en-US" sz="1150" dirty="0"/>
          </a:p>
          <a:p>
            <a:pPr indent="0" marL="0">
              <a:buNone/>
            </a:pPr>
            <a:r>
              <a:rPr lang="en-US" sz="850" dirty="0">
                <a:solidFill>
                  <a:srgbClr val="05050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minh bạch giao dịch</a:t>
            </a:r>
            <a:endParaRPr lang="en-US" sz="1150" dirty="0"/>
          </a:p>
          <a:p>
            <a:pPr indent="0" marL="0">
              <a:buNone/>
            </a:pPr>
            <a:r>
              <a:rPr lang="en-US" sz="850" dirty="0">
                <a:solidFill>
                  <a:srgbClr val="05050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chi phí vừa tầm SME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985248" y="2761488"/>
            <a:ext cx="1691640" cy="969264"/>
          </a:xfrm>
          <a:prstGeom prst="roundRect">
            <a:avLst>
              <a:gd name="adj" fmla="val 7547"/>
            </a:avLst>
          </a:prstGeom>
          <a:solidFill>
            <a:srgbClr val="061A33"/>
          </a:solidFill>
          <a:ln w="10160">
            <a:solidFill>
              <a:srgbClr val="061A33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Hive-K wins
</a:t>
            </a:r>
            <a:endParaRPr lang="en-US" sz="1150" dirty="0"/>
          </a:p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Không chỉ “match” KOL/KOC, mà theo dõi bài đăng, KPI, thanh toán và bằng chứng tín nhiệm.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9985248" y="3922776"/>
            <a:ext cx="169164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0160">
            <a:solidFill>
              <a:srgbClr val="E7D8C9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D88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Traditional ops
</a:t>
            </a:r>
            <a:endParaRPr lang="en-US" sz="1150" dirty="0"/>
          </a:p>
          <a:p>
            <a:pPr indent="0" marL="0">
              <a:buNone/>
            </a:pPr>
            <a:r>
              <a:rPr lang="en-US" sz="850" dirty="0">
                <a:solidFill>
                  <a:srgbClr val="05050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2–3 nhân sự</a:t>
            </a:r>
            <a:endParaRPr lang="en-US" sz="1150" dirty="0"/>
          </a:p>
          <a:p>
            <a:pPr indent="0" marL="0">
              <a:buNone/>
            </a:pPr>
            <a:r>
              <a:rPr lang="en-US" sz="850" dirty="0">
                <a:solidFill>
                  <a:srgbClr val="05050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Thủ công, cảm tính</a:t>
            </a:r>
            <a:endParaRPr lang="en-US" sz="1150" dirty="0"/>
          </a:p>
          <a:p>
            <a:pPr indent="0" marL="0">
              <a:buNone/>
            </a:pPr>
            <a:r>
              <a:rPr lang="en-US" sz="850" dirty="0">
                <a:solidFill>
                  <a:srgbClr val="05050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Khó đo ROI theo thời gian thực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88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HIVE-K PITCH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1965960" y="329184"/>
            <a:ext cx="9738360" cy="0"/>
          </a:xfrm>
          <a:prstGeom prst="line">
            <a:avLst/>
          </a:prstGeom>
          <a:noFill/>
          <a:ln w="13970">
            <a:solidFill>
              <a:srgbClr val="D887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698480" y="15544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5050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Hive-K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" y="58521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5050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&amp; Advisors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429768" y="111556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Đội ngũ kết hợp AI/Tech, Business, Data và Finance để triển khai sản phẩm SaaS + Marketplace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93776" y="6419088"/>
            <a:ext cx="1304163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0160">
            <a:solidFill>
              <a:srgbClr val="D8870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88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Solution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907667" y="6419088"/>
            <a:ext cx="1304163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0160">
            <a:solidFill>
              <a:srgbClr val="D8870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88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BMC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321558" y="6419088"/>
            <a:ext cx="1304163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0160">
            <a:solidFill>
              <a:srgbClr val="D8870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88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735449" y="6419088"/>
            <a:ext cx="1304163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0160">
            <a:solidFill>
              <a:srgbClr val="D8870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88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GTM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149340" y="6419088"/>
            <a:ext cx="1304163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0160">
            <a:solidFill>
              <a:srgbClr val="D8870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88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7563231" y="6419088"/>
            <a:ext cx="1304163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0160">
            <a:solidFill>
              <a:srgbClr val="D8870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88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Finance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8977122" y="6419088"/>
            <a:ext cx="1304163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0160">
            <a:solidFill>
              <a:srgbClr val="D8870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88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Landscape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0391013" y="6419088"/>
            <a:ext cx="1304163" cy="292608"/>
          </a:xfrm>
          <a:prstGeom prst="roundRect">
            <a:avLst>
              <a:gd name="adj" fmla="val 18750"/>
            </a:avLst>
          </a:prstGeom>
          <a:solidFill>
            <a:srgbClr val="D88700"/>
          </a:solidFill>
          <a:ln w="10160">
            <a:solidFill>
              <a:srgbClr val="D8870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</a:t>
            </a:r>
            <a:endParaRPr lang="en-US" sz="750" dirty="0"/>
          </a:p>
        </p:txBody>
      </p:sp>
      <p:pic>
        <p:nvPicPr>
          <p:cNvPr id="15" name="Image 0" descr="/mnt/data/hive_media/ppt/media/image2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4395" y="1417320"/>
            <a:ext cx="1131570" cy="150876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02920" y="2971800"/>
            <a:ext cx="1874520" cy="658368"/>
          </a:xfrm>
          <a:prstGeom prst="roundRect">
            <a:avLst>
              <a:gd name="adj" fmla="val 11111"/>
            </a:avLst>
          </a:prstGeom>
          <a:solidFill>
            <a:srgbClr val="061A33"/>
          </a:solidFill>
          <a:ln w="10160">
            <a:solidFill>
              <a:srgbClr val="061A3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Nguyễn Anh Thư
</a:t>
            </a:r>
            <a:endParaRPr lang="en-US" sz="880" dirty="0"/>
          </a:p>
          <a:p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 Lead · Agentic AI</a:t>
            </a:r>
            <a:endParaRPr lang="en-US" sz="880" dirty="0"/>
          </a:p>
        </p:txBody>
      </p:sp>
      <p:pic>
        <p:nvPicPr>
          <p:cNvPr id="17" name="Image 1" descr="/mnt/data/hive_media/ppt/media/image3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7208" y="1546860"/>
            <a:ext cx="1874520" cy="124968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807208" y="2971800"/>
            <a:ext cx="18745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0160">
            <a:solidFill>
              <a:srgbClr val="E7D8C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05050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Trần Hồng Phương
</a:t>
            </a:r>
            <a:endParaRPr lang="en-US" sz="880" dirty="0"/>
          </a:p>
          <a:p>
            <a:pPr indent="0" marL="0">
              <a:buNone/>
            </a:pPr>
            <a:r>
              <a:rPr lang="en-US" sz="720" dirty="0">
                <a:solidFill>
                  <a:srgbClr val="05050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Scientist</a:t>
            </a:r>
            <a:endParaRPr lang="en-US" sz="880" dirty="0"/>
          </a:p>
        </p:txBody>
      </p:sp>
      <p:pic>
        <p:nvPicPr>
          <p:cNvPr id="19" name="Image 2" descr="/mnt/data/hive_media/ppt/media/image3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3278" y="1417320"/>
            <a:ext cx="1130957" cy="1508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111496" y="2971800"/>
            <a:ext cx="1874520" cy="658368"/>
          </a:xfrm>
          <a:prstGeom prst="roundRect">
            <a:avLst>
              <a:gd name="adj" fmla="val 11111"/>
            </a:avLst>
          </a:prstGeom>
          <a:solidFill>
            <a:srgbClr val="061A33"/>
          </a:solidFill>
          <a:ln w="10160">
            <a:solidFill>
              <a:srgbClr val="061A3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Đào Thị Anh Thư
</a:t>
            </a:r>
            <a:endParaRPr lang="en-US" sz="880" dirty="0"/>
          </a:p>
          <a:p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</a:t>
            </a:r>
            <a:endParaRPr lang="en-US" sz="880" dirty="0"/>
          </a:p>
        </p:txBody>
      </p:sp>
      <p:pic>
        <p:nvPicPr>
          <p:cNvPr id="21" name="Image 3" descr="/mnt/data/hive_media/ppt/media/image3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0124" y="1417320"/>
            <a:ext cx="1005840" cy="1508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15784" y="2971800"/>
            <a:ext cx="18745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0160">
            <a:solidFill>
              <a:srgbClr val="E7D8C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05050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Trần Anh Thư
</a:t>
            </a:r>
            <a:endParaRPr lang="en-US" sz="880" dirty="0"/>
          </a:p>
          <a:p>
            <a:pPr indent="0" marL="0">
              <a:buNone/>
            </a:pPr>
            <a:r>
              <a:rPr lang="en-US" sz="720" dirty="0">
                <a:solidFill>
                  <a:srgbClr val="05050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Finance</a:t>
            </a:r>
            <a:endParaRPr lang="en-US" sz="880" dirty="0"/>
          </a:p>
        </p:txBody>
      </p:sp>
      <p:pic>
        <p:nvPicPr>
          <p:cNvPr id="23" name="Image 4" descr="/mnt/data/hive_media/ppt/media/image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95370" y="1417320"/>
            <a:ext cx="1523923" cy="150876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720072" y="2971800"/>
            <a:ext cx="18745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0160">
            <a:solidFill>
              <a:srgbClr val="E7D8C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05050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Tạ Xuân Trường
</a:t>
            </a:r>
            <a:endParaRPr lang="en-US" sz="880" dirty="0"/>
          </a:p>
          <a:p>
            <a:pPr indent="0" marL="0">
              <a:buNone/>
            </a:pPr>
            <a:r>
              <a:rPr lang="en-US" sz="720" dirty="0">
                <a:solidFill>
                  <a:srgbClr val="05050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 · Data Engineer</a:t>
            </a:r>
            <a:endParaRPr lang="en-US" sz="880" dirty="0"/>
          </a:p>
        </p:txBody>
      </p:sp>
      <p:sp>
        <p:nvSpPr>
          <p:cNvPr id="25" name="Text 18"/>
          <p:cNvSpPr/>
          <p:nvPr/>
        </p:nvSpPr>
        <p:spPr>
          <a:xfrm>
            <a:off x="685800" y="4160520"/>
            <a:ext cx="4937760" cy="1143000"/>
          </a:xfrm>
          <a:prstGeom prst="roundRect">
            <a:avLst>
              <a:gd name="adj" fmla="val 6400"/>
            </a:avLst>
          </a:prstGeom>
          <a:solidFill>
            <a:srgbClr val="FFF3E1"/>
          </a:solidFill>
          <a:ln w="10160">
            <a:solidFill>
              <a:srgbClr val="E5AE4C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D88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background
</a:t>
            </a:r>
            <a:endParaRPr lang="en-US" sz="1150" dirty="0"/>
          </a:p>
          <a:p>
            <a:pPr indent="0" marL="0">
              <a:buNone/>
            </a:pPr>
            <a:r>
              <a:rPr lang="en-US" sz="930" dirty="0">
                <a:solidFill>
                  <a:srgbClr val="05050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HCMUS · UEH · năng lực triển khai AI, backend, data, tài chính và thị trường.</a:t>
            </a:r>
            <a:endParaRPr lang="en-US" sz="1150" dirty="0"/>
          </a:p>
          <a:p>
            <a:pPr indent="0" marL="0">
              <a:buNone/>
            </a:pPr>
            <a:r>
              <a:rPr lang="en-US" sz="930" dirty="0">
                <a:solidFill>
                  <a:srgbClr val="05050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Tập trung xây một sản phẩm thật, có website demo và flow vận hành campaign.</a:t>
            </a:r>
            <a:endParaRPr lang="en-US" sz="1150" dirty="0"/>
          </a:p>
        </p:txBody>
      </p:sp>
      <p:pic>
        <p:nvPicPr>
          <p:cNvPr id="26" name="Image 5" descr="/mnt/data/hive_media/ppt/media/image34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393" y="5413248"/>
            <a:ext cx="612694" cy="502920"/>
          </a:xfrm>
          <a:prstGeom prst="rect">
            <a:avLst/>
          </a:prstGeom>
        </p:spPr>
      </p:pic>
      <p:pic>
        <p:nvPicPr>
          <p:cNvPr id="27" name="Image 6" descr="/mnt/data/hive_media/ppt/media/image35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08768" y="5330952"/>
            <a:ext cx="1126063" cy="713232"/>
          </a:xfrm>
          <a:prstGeom prst="rect">
            <a:avLst/>
          </a:prstGeom>
        </p:spPr>
      </p:pic>
      <p:pic>
        <p:nvPicPr>
          <p:cNvPr id="28" name="Image 7" descr="/mnt/data/hive_media/ppt/media/image37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9400" y="4096512"/>
            <a:ext cx="694944" cy="1042416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7607808" y="4096512"/>
            <a:ext cx="36118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0160">
            <a:solidFill>
              <a:srgbClr val="E7D8C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D88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Ông Huỳnh Tân Khoa
</a:t>
            </a:r>
            <a:endParaRPr lang="en-US" sz="880" dirty="0"/>
          </a:p>
          <a:p>
            <a:pPr indent="0" marL="0">
              <a:buNone/>
            </a:pPr>
            <a:r>
              <a:rPr lang="en-US" sz="740" dirty="0">
                <a:solidFill>
                  <a:srgbClr val="05050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CEO Green Software · hỗ trợ API, eKYC, định danh doanh nghiệp</a:t>
            </a:r>
            <a:endParaRPr lang="en-US" sz="880" dirty="0"/>
          </a:p>
        </p:txBody>
      </p:sp>
      <p:pic>
        <p:nvPicPr>
          <p:cNvPr id="30" name="Image 8" descr="/mnt/data/hive_media/ppt/media/image36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7068" y="5303520"/>
            <a:ext cx="999609" cy="1042416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7607808" y="5303520"/>
            <a:ext cx="36118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0160">
            <a:solidFill>
              <a:srgbClr val="E7D8C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D88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Anh Nguyễn Thế Hiển
</a:t>
            </a:r>
            <a:endParaRPr lang="en-US" sz="880" dirty="0"/>
          </a:p>
          <a:p>
            <a:pPr indent="0" marL="0">
              <a:buNone/>
            </a:pPr>
            <a:r>
              <a:rPr lang="en-US" sz="740" dirty="0">
                <a:solidFill>
                  <a:srgbClr val="05050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Truyền thông đa phương tiện · kiểm thử AI campaign</a:t>
            </a:r>
            <a:endParaRPr lang="en-US" sz="8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HIVE-K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HIVE-K redesigned slides</dc:title>
  <dc:subject>HIVE-K redesigned pitch slides only</dc:subject>
  <dc:creator>OpenAI</dc:creator>
  <cp:lastModifiedBy>OpenAI</cp:lastModifiedBy>
  <cp:revision>1</cp:revision>
  <dcterms:created xsi:type="dcterms:W3CDTF">2026-07-05T06:38:35Z</dcterms:created>
  <dcterms:modified xsi:type="dcterms:W3CDTF">2026-07-05T06:38:35Z</dcterms:modified>
</cp:coreProperties>
</file>